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728655" cy="4663440"/>
          </a:xfrm>
          <a:prstGeom prst="roundRect">
            <a:avLst/>
          </a:prstGeom>
          <a:solidFill>
            <a:srgbClr val="161D2D"/>
          </a:solidFill>
          <a:ln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C55E"/>
                </a:solidFill>
              </a:defRPr>
            </a:pPr>
            <a:r>
              <a:t>SMART MANUFACTURING &amp; AI QUALITY INSPECTION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3600" b="1">
                <a:solidFill>
                  <a:srgbClr val="F3F4F6"/>
                </a:solidFill>
              </a:defRPr>
            </a:pPr>
            <a:r>
              <a:t>Smart Industrial Vision &amp;</a:t>
            </a:r>
            <a:br/>
            <a:r>
              <a:t>Autonomous Quality Platform</a:t>
            </a:r>
          </a:p>
          <a:p>
            <a:pPr>
              <a:spcAft>
                <a:spcPts val="2000"/>
              </a:spcAft>
              <a:defRPr sz="1700">
                <a:solidFill>
                  <a:srgbClr val="6366F1"/>
                </a:solidFill>
              </a:defRPr>
            </a:pPr>
            <a:r>
              <a:t>How AI Inspects Factory Conveyors, Fixes Camera Glitches, and Protects Workers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Two AI Teams Working in Harmony: 7 Engineering Planners (SDLC) + 5 Floor Workers (Vision &amp; AI)</a:t>
            </a:r>
            <a:br/>
            <a:r>
              <a:t>Instant Defect Detection  |  Zero Line Stoppages  |  100% OSHA Safety Guaranteed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91840" cy="320040"/>
          </a:xfrm>
          <a:prstGeom prst="roundRect">
            <a:avLst/>
          </a:prstGeom>
          <a:solidFill>
            <a:srgbClr val="1E2943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The Real-World Problem: Why Factory Inspection Fails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20624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spcAft>
                <a:spcPts val="1400"/>
              </a:spcAft>
              <a:defRPr sz="1600" b="1">
                <a:solidFill>
                  <a:srgbClr val="F59E0B"/>
                </a:solidFill>
              </a:defRPr>
            </a:pPr>
            <a:r>
              <a:t>Problem 1: Cameras Get Glitches &amp; Stop the Line</a:t>
            </a:r>
          </a:p>
          <a:p>
            <a:pPr>
              <a:spcBef>
                <a:spcPts val="600"/>
              </a:spcBef>
              <a:defRPr sz="1300">
                <a:solidFill>
                  <a:srgbClr val="F3F4F6"/>
                </a:solidFill>
              </a:defRPr>
            </a:pPr>
            <a:r>
              <a:t>In real factories, lights flicker and camera lenses get dusty or blurry.</a:t>
            </a:r>
            <a:br/>
            <a:br/>
            <a:r>
              <a:t>Old software crashes when the picture is imperfect, shutting down the entire conveyor belt ($30,000/hour lost).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20624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spcAft>
                <a:spcPts val="1400"/>
              </a:spcAft>
              <a:defRPr sz="1600" b="1">
                <a:solidFill>
                  <a:srgbClr val="6366F1"/>
                </a:solidFill>
              </a:defRPr>
            </a:pPr>
            <a:r>
              <a:t>Problem 2: Red Alarms With Zero Fix Guidance</a:t>
            </a:r>
          </a:p>
          <a:p>
            <a:pPr>
              <a:spcBef>
                <a:spcPts val="600"/>
              </a:spcBef>
              <a:defRPr sz="1300">
                <a:solidFill>
                  <a:srgbClr val="F3F4F6"/>
                </a:solidFill>
              </a:defRPr>
            </a:pPr>
            <a:r>
              <a:t>Old systems flash a red 'FAIL' light, but don't tell anyone how to fix it.</a:t>
            </a:r>
            <a:br/>
            <a:br/>
            <a:r>
              <a:t>Maintenance workers waste 30 to 45 minutes searching through paper binders for repair steps.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83280" cy="420624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spcAft>
                <a:spcPts val="1400"/>
              </a:spcAft>
              <a:defRPr sz="1600" b="1">
                <a:solidFill>
                  <a:srgbClr val="22C55E"/>
                </a:solidFill>
              </a:defRPr>
            </a:pPr>
            <a:r>
              <a:t>Problem 3: Danger for Repair Workers</a:t>
            </a:r>
          </a:p>
          <a:p>
            <a:pPr>
              <a:spcBef>
                <a:spcPts val="600"/>
              </a:spcBef>
              <a:defRPr sz="1300">
                <a:solidFill>
                  <a:srgbClr val="F3F4F6"/>
                </a:solidFill>
              </a:defRPr>
            </a:pPr>
            <a:r>
              <a:t>Technicians rush to fix machines without turning off the electricity first.</a:t>
            </a:r>
            <a:br/>
            <a:br/>
            <a:r>
              <a:t>Lack of automatic safety warnings risks severe electrical injuries and OSHA violations.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91840" cy="320040"/>
          </a:xfrm>
          <a:prstGeom prst="roundRect">
            <a:avLst/>
          </a:prstGeom>
          <a:solidFill>
            <a:srgbClr val="1E2943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The Big Idea: Two Specialized Teams Working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2103120"/>
          </a:xfrm>
          <a:prstGeom prst="roundRect">
            <a:avLst/>
          </a:prstGeom>
          <a:solidFill>
            <a:srgbClr val="161D2D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TEAM 1: THE 7 ENGINEERING PLANNERS (SDLC GOVERNANCE)</a:t>
            </a:r>
          </a:p>
          <a:p>
            <a:pPr>
              <a:spcBef>
                <a:spcPts val="600"/>
              </a:spcBef>
              <a:defRPr sz="1300" b="1">
                <a:solidFill>
                  <a:srgbClr val="F3F4F6"/>
                </a:solidFill>
              </a:defRPr>
            </a:pPr>
            <a:r>
              <a:t>'The Coaches &amp; Engineers who build, tune, and test the machine before turning on power.'</a:t>
            </a: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t>They write the defect rulebook, tune the camera dials, audit worker safety rules, and run 17 test exams to guarantee zero software bugs.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0728655" cy="2103120"/>
          </a:xfrm>
          <a:prstGeom prst="roundRect">
            <a:avLst/>
          </a:prstGeom>
          <a:solidFill>
            <a:srgbClr val="161D2D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TEAM 2: THE 5 FLOOR INSPECTION WORKERS (RUNTIME AI)</a:t>
            </a:r>
          </a:p>
          <a:p>
            <a:pPr>
              <a:spcBef>
                <a:spcPts val="600"/>
              </a:spcBef>
              <a:defRPr sz="1300" b="1">
                <a:solidFill>
                  <a:srgbClr val="F3F4F6"/>
                </a:solidFill>
              </a:defRPr>
            </a:pPr>
            <a:r>
              <a:t>'The Workers standing at the conveyor belt inspecting every part every second.'</a:t>
            </a: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t>They snap photos, scan for cracks or rust, pull up repair steps, and fix camera glitches automatically in under 50 milliseconds without stopping the belt.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91840" cy="320040"/>
          </a:xfrm>
          <a:prstGeom prst="roundRect">
            <a:avLst/>
          </a:prstGeom>
          <a:solidFill>
            <a:srgbClr val="1E2943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THE PLANNING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Team 1: Meet the 7 Engineering Planners (SDLC Agents)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566928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3F4F6"/>
                </a:solidFill>
              </a:defRPr>
            </a:pPr>
            <a:r>
              <a:t>1. PM Coordinator   [RULES ON]   ➔   The Rulemaker: Writes the recipe of what a bad defect is (Crack, Scratch, Rust, Dent).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04288"/>
            <a:ext cx="10728655" cy="566928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3F4F6"/>
                </a:solidFill>
              </a:defRPr>
            </a:pPr>
            <a:r>
              <a:t>2. Architect Agent   [PIPELINE READY]   ➔   The Road Planner: Connects the data wires so photos travel smoothly to the AI brain.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62656"/>
            <a:ext cx="10728655" cy="566928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3F4F6"/>
                </a:solidFill>
              </a:defRPr>
            </a:pPr>
            <a:r>
              <a:t>3. Tech Lead   [CAMERA TUNED]   ➔   The Dial Tuner: Sets camera sharpness and lighting sensitivity to the perfect numbers.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21024"/>
            <a:ext cx="10728655" cy="566928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3F4F6"/>
                </a:solidFill>
              </a:defRPr>
            </a:pPr>
            <a:r>
              <a:t>4. Developer   [5 WORKERS READY]   ➔   The Builder: Plugs in the 5 inspection workers and puts them to work on the conveyor.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79392"/>
            <a:ext cx="10728655" cy="566928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3F4F6"/>
                </a:solidFill>
              </a:defRPr>
            </a:pPr>
            <a:r>
              <a:t>5. Reviewer   [SAFETY CHECKED]   ➔   The Safety Officer: Checks every repair ticket to ensure workers turn off power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59"/>
            <a:ext cx="10728655" cy="566928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3F4F6"/>
                </a:solidFill>
              </a:defRPr>
            </a:pPr>
            <a:r>
              <a:t>6. QA Engineer   [ALL TESTS PASSED]   ➔   The Test Inspector: Gives the software 17 test exams (scored 100% with zero bugs).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96128"/>
            <a:ext cx="10728655" cy="566928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3F4F6"/>
                </a:solidFill>
              </a:defRPr>
            </a:pPr>
            <a:r>
              <a:t>7. Watchdog   [RUNNING SMOOTH]   ➔   The Guardian: Watches the system 24/7 to make sure it never freezes or crashes.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91840" cy="320040"/>
          </a:xfrm>
          <a:prstGeom prst="roundRect">
            <a:avLst/>
          </a:prstGeom>
          <a:solidFill>
            <a:srgbClr val="1E2943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THE FLOOR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Team 2: Meet the 5 Floor Workers (Live on the Conveyor)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201168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1500" b="1">
                <a:solidFill>
                  <a:srgbClr val="6366F1"/>
                </a:solidFill>
              </a:defRPr>
            </a:pPr>
            <a:r>
              <a:t>Vision Worker (The Eyes)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Takes the photo, wipes away surface grain, and highlights flaws.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29000" cy="201168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1500" b="1">
                <a:solidFill>
                  <a:srgbClr val="22C55E"/>
                </a:solidFill>
              </a:defRPr>
            </a:pPr>
            <a:r>
              <a:t>Diagnosis Worker (The Brain)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AI identifies the defect in 15ms: Crack, Scratch, Corrosion, or Pass.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828800"/>
            <a:ext cx="3429000" cy="201168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Manual Worker (The Librarian)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Instantly pulls up the exact repair procedure from factory manuals.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57800" cy="201168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1500" b="1">
                <a:solidFill>
                  <a:srgbClr val="6366F1"/>
                </a:solidFill>
              </a:defRPr>
            </a:pPr>
            <a:r>
              <a:t>Safety Gate (The Sign-Off)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Automatically approves minor parts; requires supervisor sign-off on cracks.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257800" cy="201168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1500" b="1">
                <a:solidFill>
                  <a:srgbClr val="22C55E"/>
                </a:solidFill>
              </a:defRPr>
            </a:pPr>
            <a:r>
              <a:t>Doctor Worker (The Self-Fixer)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If the camera is blurry or dark, fixes the picture without stopping the 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91840" cy="320040"/>
          </a:xfrm>
          <a:prstGeom prst="roundRect">
            <a:avLst/>
          </a:prstGeom>
          <a:solidFill>
            <a:srgbClr val="1E2943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OPERATOR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The Plant Screen: Simple, Clean &amp; Zero-Scrolling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6366F1"/>
                </a:solidFill>
              </a:defRPr>
            </a:pPr>
            <a:r>
              <a:t>•  Dual Live Video Feeds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    Left shows the raw camera view; Right highlights the detected defect in red so operators see exactly what the AI sees.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77724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6366F1"/>
                </a:solidFill>
              </a:defRPr>
            </a:pPr>
            <a:r>
              <a:t>•  Instant 1-Click Team Switcher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    Operators can switch between Floor Workers and Engineering Planners in the exact same spot with zero screen clutter.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728655" cy="77724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6366F1"/>
                </a:solidFill>
              </a:defRPr>
            </a:pPr>
            <a:r>
              <a:t>•  Conveyor Speed Controls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    Start or pause continuous inspection, or adjust conveyor speed (Fast 1.2s, Normal 2.0s, Slow 3.5s).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728655" cy="77724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6366F1"/>
                </a:solidFill>
              </a:defRPr>
            </a:pPr>
            <a:r>
              <a:t>•  Live Maintenance Ticket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    Whenever a defect appears, the screen instantly displays the step-by-step repair guide and safety warnings.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728655" cy="77724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6366F1"/>
                </a:solidFill>
              </a:defRPr>
            </a:pPr>
            <a:r>
              <a:t>•  Fits on Any Screen Without Scrolling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    Designed for plant control rooms so operators never have to scroll to see camera feeds.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91840" cy="320040"/>
          </a:xfrm>
          <a:prstGeom prst="roundRect">
            <a:avLst/>
          </a:prstGeom>
          <a:solidFill>
            <a:srgbClr val="1E2943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SAFETY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Protecting Human Workers: Built-in Safety &amp;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161D2D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Turn Off Power First (OSHA Safety Rule)</a:t>
            </a:r>
          </a:p>
          <a:p>
            <a:pPr>
              <a:spcAft>
                <a:spcPts val="800"/>
              </a:spcAft>
              <a:defRPr sz="1200">
                <a:solidFill>
                  <a:srgbClr val="F3F4F6"/>
                </a:solidFill>
              </a:defRPr>
            </a:pPr>
            <a:r>
              <a:t>• Rule 1910.147 (Lockout / Tagout): Before any person touches a broken conveyor machine, electrical power must be shut off and padlocked.</a:t>
            </a:r>
          </a:p>
          <a:p>
            <a:pPr>
              <a:spcAft>
                <a:spcPts val="800"/>
              </a:spcAft>
              <a:defRPr sz="1200">
                <a:solidFill>
                  <a:srgbClr val="F3F4F6"/>
                </a:solidFill>
              </a:defRPr>
            </a:pPr>
            <a:r>
              <a:t>• Automatic Safety Tag: The system automatically writes this safety warning on every ticket for dangerous cracks.</a:t>
            </a:r>
          </a:p>
          <a:p>
            <a:pPr>
              <a:spcAft>
                <a:spcPts val="800"/>
              </a:spcAft>
              <a:defRPr sz="1200">
                <a:solidFill>
                  <a:srgbClr val="F3F4F6"/>
                </a:solidFill>
              </a:defRPr>
            </a:pPr>
            <a:r>
              <a:t>• Safety Gear: Specifies required eye protection, face shields, and cut-resistant gloves.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114800"/>
          </a:xfrm>
          <a:prstGeom prst="roundRect">
            <a:avLst/>
          </a:prstGeom>
          <a:solidFill>
            <a:srgbClr val="161D2D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 b="1">
                <a:solidFill>
                  <a:srgbClr val="22C55E"/>
                </a:solidFill>
              </a:defRPr>
            </a:pPr>
            <a:r>
              <a:t>Official Manuals (ISO-9001 Quality Traceability)</a:t>
            </a:r>
          </a:p>
          <a:p>
            <a:pPr>
              <a:spcAft>
                <a:spcPts val="800"/>
              </a:spcAft>
              <a:defRPr sz="1200">
                <a:solidFill>
                  <a:srgbClr val="F3F4F6"/>
                </a:solidFill>
              </a:defRPr>
            </a:pPr>
            <a:r>
              <a:t>• No Guesswork: Every repair action is pulled directly from official company manuals (SOP-001 to SOP-004).</a:t>
            </a:r>
          </a:p>
          <a:p>
            <a:pPr>
              <a:spcAft>
                <a:spcPts val="800"/>
              </a:spcAft>
              <a:defRPr sz="1200">
                <a:solidFill>
                  <a:srgbClr val="F3F4F6"/>
                </a:solidFill>
              </a:defRPr>
            </a:pPr>
            <a:r>
              <a:t>• Manager Approval: Routine scratches are passed automatically, but structural cracks require a manager's electronic sign-off.</a:t>
            </a:r>
          </a:p>
          <a:p>
            <a:pPr>
              <a:spcAft>
                <a:spcPts val="800"/>
              </a:spcAft>
              <a:defRPr sz="1200">
                <a:solidFill>
                  <a:srgbClr val="F3F4F6"/>
                </a:solidFill>
              </a:defRPr>
            </a:pPr>
            <a:r>
              <a:t>• Audit Ready: Keeps a permanent record of every inspected part for regulatory audits.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91840" cy="320040"/>
          </a:xfrm>
          <a:prstGeom prst="roundRect">
            <a:avLst/>
          </a:prstGeom>
          <a:solidFill>
            <a:srgbClr val="1E2943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ZERO DOWNTIME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The 'Self-Healing' Feature: How It Fixes Its Own Glitches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Glitch: Camera Gets Blurry (Vibrations)   ➔   Fixed in 0.025 seconds</a:t>
            </a:r>
          </a:p>
          <a:p>
            <a:pPr>
              <a:spcBef>
                <a:spcPts val="400"/>
              </a:spcBef>
              <a:defRPr sz="1200">
                <a:solidFill>
                  <a:srgbClr val="F3F4F6"/>
                </a:solidFill>
              </a:defRPr>
            </a:pPr>
            <a:r>
              <a:t>How System Self-Heals: Digital Unsharp Filter sharpens the photo back to HD clarity.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728655" cy="100584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Glitch: Lights Flicker or Dim (Bulb Drop)   ➔   Fixed in 0.020 seconds</a:t>
            </a:r>
          </a:p>
          <a:p>
            <a:pPr>
              <a:spcBef>
                <a:spcPts val="400"/>
              </a:spcBef>
              <a:defRPr sz="1200">
                <a:solidFill>
                  <a:srgbClr val="F3F4F6"/>
                </a:solidFill>
              </a:defRPr>
            </a:pPr>
            <a:r>
              <a:t>How System Self-Heals: Automatic Brightness Booster brightens dark areas evenly.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100584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Glitch: Data Dropped in Network   ➔   Fixed in 0.005 seconds</a:t>
            </a:r>
          </a:p>
          <a:p>
            <a:pPr>
              <a:spcBef>
                <a:spcPts val="400"/>
              </a:spcBef>
              <a:defRPr sz="1200">
                <a:solidFill>
                  <a:srgbClr val="F3F4F6"/>
                </a:solidFill>
              </a:defRPr>
            </a:pPr>
            <a:r>
              <a:t>How System Self-Heals: Smart Database fills in missing measurements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28655" cy="100584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Glitch: Unexpected Software Glitch   ➔   Fixed in 0.010 seconds</a:t>
            </a:r>
          </a:p>
          <a:p>
            <a:pPr>
              <a:spcBef>
                <a:spcPts val="400"/>
              </a:spcBef>
              <a:defRPr sz="1200">
                <a:solidFill>
                  <a:srgbClr val="F3F4F6"/>
                </a:solidFill>
              </a:defRPr>
            </a:pPr>
            <a:r>
              <a:t>How System Self-Heals: Circuit Breaker isolates the error so the conveyor never stops.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91840" cy="320040"/>
          </a:xfrm>
          <a:prstGeom prst="roundRect">
            <a:avLst/>
          </a:prstGeom>
          <a:solidFill>
            <a:srgbClr val="1E2943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TEST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Quality Guaranteed: 17 Out of 17 Tests Passed (100%)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005840"/>
          </a:xfrm>
          <a:prstGeom prst="roundRect">
            <a:avLst/>
          </a:prstGeom>
          <a:solidFill>
            <a:srgbClr val="064E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A7F3D0"/>
                </a:solidFill>
              </a:defRPr>
            </a:pPr>
            <a:r>
              <a:t>100% PERFECT TEST SCORE: 17 OUT OF 17 TESTS PASSED IN 3.4 SECONDS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5212080" cy="320040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1400" b="1">
                <a:solidFill>
                  <a:srgbClr val="6366F1"/>
                </a:solidFill>
              </a:defRPr>
            </a:pPr>
            <a:r>
              <a:t>10 Floor Inspection Tests (Camera &amp; AI)</a:t>
            </a:r>
          </a:p>
          <a:p>
            <a:pPr>
              <a:spcAft>
                <a:spcPts val="400"/>
              </a:spcAft>
              <a:defRPr sz="1100">
                <a:solidFill>
                  <a:srgbClr val="F3F4F6"/>
                </a:solidFill>
              </a:defRPr>
            </a:pPr>
            <a:r>
              <a:t>✓ Camera ingestion and picture sharpness verification</a:t>
            </a:r>
          </a:p>
          <a:p>
            <a:pPr>
              <a:spcAft>
                <a:spcPts val="400"/>
              </a:spcAft>
              <a:defRPr sz="1100">
                <a:solidFill>
                  <a:srgbClr val="F3F4F6"/>
                </a:solidFill>
              </a:defRPr>
            </a:pPr>
            <a:r>
              <a:t>✓ Surface texture and defect measurement accuracy</a:t>
            </a:r>
          </a:p>
          <a:p>
            <a:pPr>
              <a:spcAft>
                <a:spcPts val="400"/>
              </a:spcAft>
              <a:defRPr sz="1100">
                <a:solidFill>
                  <a:srgbClr val="F3F4F6"/>
                </a:solidFill>
              </a:defRPr>
            </a:pPr>
            <a:r>
              <a:t>✓ AI defect classification (Cracks, Scratches, Rust)</a:t>
            </a:r>
          </a:p>
          <a:p>
            <a:pPr>
              <a:spcAft>
                <a:spcPts val="400"/>
              </a:spcAft>
              <a:defRPr sz="1100">
                <a:solidFill>
                  <a:srgbClr val="F3F4F6"/>
                </a:solidFill>
              </a:defRPr>
            </a:pPr>
            <a:r>
              <a:t>✓ Automatic repair manual search &amp; work order generation</a:t>
            </a:r>
          </a:p>
          <a:p>
            <a:pPr>
              <a:spcAft>
                <a:spcPts val="400"/>
              </a:spcAft>
              <a:defRPr sz="1100">
                <a:solidFill>
                  <a:srgbClr val="F3F4F6"/>
                </a:solidFill>
              </a:defRPr>
            </a:pPr>
            <a:r>
              <a:t>✓ Conveyor live stream step-by-step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5212080" cy="320040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1400" b="1">
                <a:solidFill>
                  <a:srgbClr val="6366F1"/>
                </a:solidFill>
              </a:defRPr>
            </a:pPr>
            <a:r>
              <a:t>7 Engineering Governance Tests (SDLC Agents)</a:t>
            </a:r>
          </a:p>
          <a:p>
            <a:pPr>
              <a:spcAft>
                <a:spcPts val="400"/>
              </a:spcAft>
              <a:defRPr sz="1100">
                <a:solidFill>
                  <a:srgbClr val="F3F4F6"/>
                </a:solidFill>
              </a:defRPr>
            </a:pPr>
            <a:r>
              <a:t>✓ PM Agent: Verifies defect rules and safety targets</a:t>
            </a:r>
          </a:p>
          <a:p>
            <a:pPr>
              <a:spcAft>
                <a:spcPts val="400"/>
              </a:spcAft>
              <a:defRPr sz="1100">
                <a:solidFill>
                  <a:srgbClr val="F3F4F6"/>
                </a:solidFill>
              </a:defRPr>
            </a:pPr>
            <a:r>
              <a:t>✓ Architect Agent: Verifies software wires are connected</a:t>
            </a:r>
          </a:p>
          <a:p>
            <a:pPr>
              <a:spcAft>
                <a:spcPts val="400"/>
              </a:spcAft>
              <a:defRPr sz="1100">
                <a:solidFill>
                  <a:srgbClr val="F3F4F6"/>
                </a:solidFill>
              </a:defRPr>
            </a:pPr>
            <a:r>
              <a:t>✓ Tech Lead Agent: Verifies camera dials are locked</a:t>
            </a:r>
          </a:p>
          <a:p>
            <a:pPr>
              <a:spcAft>
                <a:spcPts val="400"/>
              </a:spcAft>
              <a:defRPr sz="1100">
                <a:solidFill>
                  <a:srgbClr val="F3F4F6"/>
                </a:solidFill>
              </a:defRPr>
            </a:pPr>
            <a:r>
              <a:t>✓ Developer Agent: Verifies all 5 workers are running</a:t>
            </a:r>
          </a:p>
          <a:p>
            <a:pPr>
              <a:spcAft>
                <a:spcPts val="400"/>
              </a:spcAft>
              <a:defRPr sz="1100">
                <a:solidFill>
                  <a:srgbClr val="F3F4F6"/>
                </a:solidFill>
              </a:defRPr>
            </a:pPr>
            <a:r>
              <a:t>✓ Reviewer &amp; QA: Verifies safety sign-offs and zero bugs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91840" cy="320040"/>
          </a:xfrm>
          <a:prstGeom prst="roundRect">
            <a:avLst/>
          </a:prstGeom>
          <a:solidFill>
            <a:srgbClr val="1E2943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Why Companies Want This: Real Business Value &amp; ROI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14600" cy="201168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spcAft>
                <a:spcPts val="800"/>
              </a:spcAft>
              <a:defRPr sz="1600" b="1">
                <a:solidFill>
                  <a:srgbClr val="22C55E"/>
                </a:solidFill>
              </a:defRPr>
            </a:pPr>
            <a:r>
              <a:t>95% Less Downtime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Self-healing keeps the conveyor moving when cameras glitch.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737360"/>
            <a:ext cx="2514600" cy="201168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spcAft>
                <a:spcPts val="800"/>
              </a:spcAft>
              <a:defRPr sz="1600" b="1">
                <a:solidFill>
                  <a:srgbClr val="6366F1"/>
                </a:solidFill>
              </a:defRPr>
            </a:pPr>
            <a:r>
              <a:t>Instant Repair Orders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Saves 45 minutes of manual search time per breakdown.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2514600" cy="201168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Zero Safety Risks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Every repair order embeds electrical shutoff warnings.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737360"/>
            <a:ext cx="2514600" cy="2011680"/>
          </a:xfrm>
          <a:prstGeom prst="roundRect">
            <a:avLst/>
          </a:prstGeom>
          <a:solidFill>
            <a:srgbClr val="161D2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spcAft>
                <a:spcPts val="800"/>
              </a:spcAft>
              <a:defRPr sz="1600" b="1">
                <a:solidFill>
                  <a:srgbClr val="22C55E"/>
                </a:solidFill>
              </a:defRPr>
            </a:pPr>
            <a:r>
              <a:t>1-Click Launch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Ready to run right now in your VS Code terminal.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10728655" cy="2103120"/>
          </a:xfrm>
          <a:prstGeom prst="roundRect">
            <a:avLst/>
          </a:prstGeom>
          <a:solidFill>
            <a:srgbClr val="161D2D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READY TO RUN: 1 COMMAND IN YOUR VS CODE TERMINAL</a:t>
            </a:r>
          </a:p>
          <a:p>
            <a:pPr>
              <a:spcBef>
                <a:spcPts val="800"/>
              </a:spcBef>
              <a:defRPr sz="1300" b="1">
                <a:solidFill>
                  <a:srgbClr val="34D399"/>
                </a:solidFill>
              </a:defRPr>
            </a:pPr>
            <a:r>
              <a:t>cd C:\Users\panka\.gemini\antigravity\scratch\industrial_sdlc_vision_rag</a:t>
            </a:r>
            <a:br/>
            <a:r>
              <a:t>.\run_dashboard.bat</a:t>
            </a:r>
            <a:br/>
            <a:br/>
            <a:r>
              <a:t>-&gt; Opens the Live Inspection Screen immediately at http://localhost:8080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